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6B1F2F"/>
                </a:solidFill>
              </a:rPr>
              <a:t>Bodega Larraz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333333"/>
                </a:solidFill>
              </a:rPr>
              <a:t>Informe de cosecha — Vendimia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B1F2F"/>
                </a:solidFill>
              </a:rPr>
              <a:t>Resumen de la vendimia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</a:rPr>
              <a:t>• La vendimia de 2025 cerró con 84.000 kg de uva recogida.</a:t>
            </a:r>
          </a:p>
          <a:p>
            <a:r>
              <a:rPr sz="2000" b="0">
                <a:solidFill>
                  <a:srgbClr val="333333"/>
                </a:solidFill>
              </a:rPr>
              <a:t>• Un 12 % menos que en 2024 (95.500 kg) por la sequía del verano.</a:t>
            </a:r>
          </a:p>
          <a:p>
            <a:r>
              <a:rPr sz="2000" b="0">
                <a:solidFill>
                  <a:srgbClr val="333333"/>
                </a:solidFill>
              </a:rPr>
              <a:t>• La calidad fue excelente: la graduación media subió de</a:t>
            </a:r>
          </a:p>
          <a:p>
            <a:r>
              <a:rPr sz="2000" b="0">
                <a:solidFill>
                  <a:srgbClr val="333333"/>
                </a:solidFill>
              </a:rPr>
              <a:t>   12,1 a 13,4 grados Baumé.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B1F2F"/>
                </a:solidFill>
              </a:rPr>
              <a:t>Rendimiento por variedad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377440"/>
                <a:gridCol w="2011680"/>
                <a:gridCol w="3108960"/>
              </a:tblGrid>
              <a:tr h="69494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6B1F2F"/>
                          </a:solidFill>
                        </a:rPr>
                        <a:t>Variedad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6B1F2F"/>
                          </a:solidFill>
                        </a:rPr>
                        <a:t>Kg recogidos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6B1F2F"/>
                          </a:solidFill>
                        </a:rPr>
                        <a:t>% del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6B1F2F"/>
                          </a:solidFill>
                        </a:rPr>
                        <a:t>Graduación (Baumé)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600" b="0"/>
                        <a:t>Garnacha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41.000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49 %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13,8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600" b="0"/>
                        <a:t>Tempranillo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28.500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34 %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13,1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600" b="0"/>
                        <a:t>Graciano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9.500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13,0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600" b="0"/>
                        <a:t>Otras variedades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5.000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12,6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B1F2F"/>
                </a:solidFill>
              </a:rPr>
              <a:t>Evolución (kg totales)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1F2F"/>
                </a:solidFill>
              </a:rPr>
              <a:t>2021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33333"/>
                </a:solidFill>
              </a:rPr>
              <a:t>71.000 kg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1F2F"/>
                </a:solidFill>
              </a:rPr>
              <a:t>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743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33333"/>
                </a:solidFill>
              </a:rPr>
              <a:t>79.500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011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1F2F"/>
                </a:solidFill>
              </a:rPr>
              <a:t>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743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33333"/>
                </a:solidFill>
              </a:rPr>
              <a:t>88.000 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011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1F2F"/>
                </a:solidFill>
              </a:rP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743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33333"/>
                </a:solidFill>
              </a:rPr>
              <a:t>95.500 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011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1F2F"/>
                </a:solidFill>
              </a:rPr>
              <a:t>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743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33333"/>
                </a:solidFill>
              </a:rPr>
              <a:t>84.000 kg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B1F2F"/>
                </a:solidFill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</a:rPr>
              <a:t>• Menos cantidad pero más grado: se prevé un vino estructurado</a:t>
            </a:r>
          </a:p>
          <a:p>
            <a:r>
              <a:rPr sz="2000" b="0">
                <a:solidFill>
                  <a:srgbClr val="333333"/>
                </a:solidFill>
              </a:rPr>
              <a:t>   con mayor potencial de crianza.</a:t>
            </a:r>
          </a:p>
          <a:p>
            <a:r>
              <a:rPr sz="2000" b="0">
                <a:solidFill>
                  <a:srgbClr val="333333"/>
                </a:solidFill>
              </a:rPr>
              <a:t>• Se recomienda ampliar la parcela de Garnacha en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