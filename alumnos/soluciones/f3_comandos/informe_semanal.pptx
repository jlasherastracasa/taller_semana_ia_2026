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spPr>
              <a:solidFill>
                <a:srgbClr val="A7BEAE"/>
              </a:solidFill>
            </c:spPr>
          </c:dPt>
          <c:dPt>
            <c:idx val="1"/>
            <c:spPr>
              <a:solidFill>
                <a:srgbClr val="E7E8D1"/>
              </a:solidFill>
            </c:spPr>
          </c:dPt>
          <c:dPt>
            <c:idx val="2"/>
            <c:spPr>
              <a:solidFill>
                <a:srgbClr val="B85042"/>
              </a:solidFill>
            </c:spPr>
          </c:dPt>
          <c:cat>
            <c:strRef>
              <c:f>Sheet1!$A$2:$A$4</c:f>
              <c:strCache>
                <c:ptCount val="3"/>
                <c:pt idx="0">
                  <c:v>bazar</c:v>
                </c:pt>
                <c:pt idx="1">
                  <c:v>textil</c:v>
                </c:pt>
                <c:pt idx="2">
                  <c:v>hogar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14000</c:v>
                </c:pt>
                <c:pt idx="1">
                  <c:v>18700</c:v>
                </c:pt>
                <c:pt idx="2">
                  <c:v>29800</c:v>
                </c:pt>
              </c:numCache>
            </c:numRef>
          </c:val>
        </c:ser>
        <c:dLbls>
          <c:numFmt formatCode="#,##0 &quot;€&quot;" sourceLinked="0"/>
          <c:txPr>
            <a:bodyPr/>
            <a:lstStyle/>
            <a:p>
              <a:pPr>
                <a:defRPr sz="1200" b="1">
                  <a:solidFill>
                    <a:srgbClr val="332E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A8078"/>
            </a:solidFill>
          </a:ln>
        </c:spPr>
        <c:txPr>
          <a:bodyPr/>
          <a:lstStyle/>
          <a:p>
            <a:pPr>
              <a:defRPr sz="14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31750">
              <a:solidFill>
                <a:srgbClr val="B85042"/>
              </a:solidFill>
            </a:ln>
          </c:spPr>
          <c:marker>
            <c:spPr>
              <a:solidFill>
                <a:srgbClr val="B8504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  <c:pt idx="5">
                  <c:v>Junio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8900</c:v>
                </c:pt>
                <c:pt idx="1">
                  <c:v>8600</c:v>
                </c:pt>
                <c:pt idx="2">
                  <c:v>10100</c:v>
                </c:pt>
                <c:pt idx="3">
                  <c:v>10600</c:v>
                </c:pt>
                <c:pt idx="4">
                  <c:v>11500</c:v>
                </c:pt>
                <c:pt idx="5">
                  <c:v>12800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332E2A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078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6450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394960"/>
            <a:ext cx="292608" cy="29260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" y="5394960"/>
            <a:ext cx="292608" cy="292608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5394960"/>
            <a:ext cx="292608" cy="292608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Informe semanal de ventas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E7E8D1"/>
                </a:solidFill>
                <a:latin typeface="Calibri"/>
              </a:rPr>
              <a:t>Mes más reciente del histórico: Junio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078"/>
                </a:solidFill>
                <a:latin typeface="Calibri"/>
              </a:rPr>
              <a:t>Datos calculados directamente desde ventas_tienda.csv · 6 meses · 3 categorías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32E2A"/>
                </a:solidFill>
                <a:latin typeface="Calibri"/>
              </a:rPr>
              <a:t>Total por categoría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8078"/>
                </a:solidFill>
                <a:latin typeface="Calibri"/>
              </a:rPr>
              <a:t>Suma de importes de enero a junio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704088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79" y="1645920"/>
            <a:ext cx="3657600" cy="1737360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81051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8078"/>
                </a:solidFill>
                <a:latin typeface="Calibri"/>
              </a:rPr>
              <a:t>TOTAL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176272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B85042"/>
                </a:solidFill>
                <a:latin typeface="Calibri"/>
              </a:rPr>
              <a:t>62.500 €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611880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83879" y="3886200"/>
            <a:ext cx="219456" cy="219456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376732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32E2A"/>
                </a:solidFill>
                <a:latin typeface="Calibri"/>
              </a:rPr>
              <a:t>Hogar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767328"/>
            <a:ext cx="1783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332E2A"/>
                </a:solidFill>
                <a:latin typeface="Calibri"/>
              </a:rPr>
              <a:t>29.800 €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572000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83879" y="4846320"/>
            <a:ext cx="219456" cy="219456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472744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32E2A"/>
                </a:solidFill>
                <a:latin typeface="Calibri"/>
              </a:rPr>
              <a:t>Textil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4727448"/>
            <a:ext cx="1783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332E2A"/>
                </a:solidFill>
                <a:latin typeface="Calibri"/>
              </a:rPr>
              <a:t>18.700 €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5532120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83879" y="5806440"/>
            <a:ext cx="219456" cy="219456"/>
          </a:xfrm>
          <a:prstGeom prst="ellipse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568756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32E2A"/>
                </a:solidFill>
                <a:latin typeface="Calibri"/>
              </a:rPr>
              <a:t>Bazar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5687568"/>
            <a:ext cx="1783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>
                <a:solidFill>
                  <a:srgbClr val="332E2A"/>
                </a:solidFill>
                <a:latin typeface="Calibri"/>
              </a:rPr>
              <a:t>14.000 €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32E2A"/>
                </a:solidFill>
                <a:latin typeface="Calibri"/>
              </a:rPr>
              <a:t>Tendencia: enero → junio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A8078"/>
                </a:solidFill>
                <a:latin typeface="Calibri"/>
              </a:rPr>
              <a:t>Ventas totales por mes (suma de las tres categorías)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91640"/>
          <a:ext cx="72237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6916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828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A8078"/>
                </a:solidFill>
                <a:latin typeface="Calibri"/>
              </a:rPr>
              <a:t>Enero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2E2A"/>
                </a:solidFill>
                <a:latin typeface="Calibri"/>
              </a:rPr>
              <a:t>8.900 €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2918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3429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A8078"/>
                </a:solidFill>
                <a:latin typeface="Calibri"/>
              </a:rPr>
              <a:t>Junio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B85042"/>
                </a:solidFill>
                <a:latin typeface="Calibri"/>
              </a:rPr>
              <a:t>12.800 €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8920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50292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E8D1"/>
                </a:solidFill>
                <a:latin typeface="Calibri"/>
              </a:rPr>
              <a:t>VARIACIÓN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3766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+43,8 %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