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kg</c:v>
                </c:pt>
              </c:strCache>
            </c:strRef>
          </c:tx>
          <c:spPr>
            <a:solidFill>
              <a:srgbClr val="6D2E46"/>
            </a:solidFill>
          </c:spPr>
          <c:cat>
            <c:strRef>
              <c:f>Sheet1!$A$2:$A$5</c:f>
              <c:strCache>
                <c:ptCount val="4"/>
                <c:pt idx="0">
                  <c:v>Garnacha</c:v>
                </c:pt>
                <c:pt idx="1">
                  <c:v>Tempranillo</c:v>
                </c:pt>
                <c:pt idx="2">
                  <c:v>Graciano</c:v>
                </c:pt>
                <c:pt idx="3">
                  <c:v>Otras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41000</c:v>
                </c:pt>
                <c:pt idx="1">
                  <c:v>28500</c:v>
                </c:pt>
                <c:pt idx="2">
                  <c:v>9500</c:v>
                </c:pt>
                <c:pt idx="3">
                  <c:v>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1">
                  <a:solidFill>
                    <a:srgbClr val="2B1B2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2B1B2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D9D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595054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kg</c:v>
                </c:pt>
              </c:strCache>
            </c:strRef>
          </c:tx>
          <c:spPr>
            <a:solidFill>
              <a:srgbClr val="6D2E46"/>
            </a:solidFill>
          </c:spP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71000</c:v>
                </c:pt>
                <c:pt idx="1">
                  <c:v>79500</c:v>
                </c:pt>
                <c:pt idx="2">
                  <c:v>88000</c:v>
                </c:pt>
                <c:pt idx="3">
                  <c:v>95500</c:v>
                </c:pt>
                <c:pt idx="4">
                  <c:v>84000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 b="1">
                  <a:solidFill>
                    <a:srgbClr val="2B1B2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2B1B2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D9D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595054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mbria"/>
              </a:rPr>
              <a:t>Informe de cosecha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375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C9A96B"/>
                </a:solidFill>
                <a:latin typeface="Cambria"/>
              </a:rPr>
              <a:t>Bodega Larraz · Vendimia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69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7BBC0"/>
                </a:solidFill>
                <a:latin typeface="Calibri"/>
              </a:rPr>
              <a:t>Menos cantidad, más grado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DCE1"/>
                </a:solidFill>
                <a:latin typeface="Calibri"/>
              </a:rPr>
              <a:t>Resumen de campaña · Departamento técnico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6D2E46"/>
                </a:solidFill>
                <a:latin typeface="Cambria"/>
              </a:rPr>
              <a:t>Resumen de la vendimia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6035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700" b="1">
                <a:solidFill>
                  <a:srgbClr val="6D2E46"/>
                </a:solidFill>
                <a:latin typeface="Calibri"/>
              </a:rPr>
              <a:t>•  </a:t>
            </a:r>
            <a:r>
              <a:rPr sz="1700" b="1">
                <a:solidFill>
                  <a:srgbClr val="2B1B22"/>
                </a:solidFill>
                <a:latin typeface="Calibri"/>
              </a:rPr>
              <a:t>84.000 kg de uva recogida</a:t>
            </a:r>
            <a:r>
              <a:rPr sz="1600">
                <a:solidFill>
                  <a:srgbClr val="595054"/>
                </a:solidFill>
                <a:latin typeface="Calibri"/>
              </a:rPr>
              <a:t> en la campaña de 2025.</a:t>
            </a:r>
          </a:p>
          <a:p>
            <a:pPr>
              <a:spcAft>
                <a:spcPts val="1800"/>
              </a:spcAft>
            </a:pPr>
            <a:r>
              <a:rPr sz="1700" b="1">
                <a:solidFill>
                  <a:srgbClr val="6D2E46"/>
                </a:solidFill>
                <a:latin typeface="Calibri"/>
              </a:rPr>
              <a:t>•  </a:t>
            </a:r>
            <a:r>
              <a:rPr sz="1700" b="1">
                <a:solidFill>
                  <a:srgbClr val="2B1B22"/>
                </a:solidFill>
                <a:latin typeface="Calibri"/>
              </a:rPr>
              <a:t>−12 % respecto a 2024</a:t>
            </a:r>
            <a:r>
              <a:rPr sz="1600">
                <a:solidFill>
                  <a:srgbClr val="595054"/>
                </a:solidFill>
                <a:latin typeface="Calibri"/>
              </a:rPr>
              <a:t> (95.500 kg), debido a la sequía del verano.</a:t>
            </a:r>
          </a:p>
          <a:p>
            <a:pPr>
              <a:spcAft>
                <a:spcPts val="1800"/>
              </a:spcAft>
            </a:pPr>
            <a:r>
              <a:rPr sz="1700" b="1">
                <a:solidFill>
                  <a:srgbClr val="6D2E46"/>
                </a:solidFill>
                <a:latin typeface="Calibri"/>
              </a:rPr>
              <a:t>•  </a:t>
            </a:r>
            <a:r>
              <a:rPr sz="1700" b="1">
                <a:solidFill>
                  <a:srgbClr val="2B1B22"/>
                </a:solidFill>
                <a:latin typeface="Calibri"/>
              </a:rPr>
              <a:t>Calidad excelente:</a:t>
            </a:r>
            <a:r>
              <a:rPr sz="1600">
                <a:solidFill>
                  <a:srgbClr val="595054"/>
                </a:solidFill>
                <a:latin typeface="Calibri"/>
              </a:rPr>
              <a:t> la graduación media subió de 12,1 a 13,4 grados Baumé.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1600200"/>
            <a:ext cx="4206240" cy="1261872"/>
          </a:xfrm>
          <a:prstGeom prst="rect">
            <a:avLst/>
          </a:prstGeom>
          <a:solidFill>
            <a:srgbClr val="F4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0" y="1709928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6D2E46"/>
                </a:solidFill>
                <a:latin typeface="Cambria"/>
              </a:rPr>
              <a:t>84.000 kg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23774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5054"/>
                </a:solidFill>
                <a:latin typeface="Calibri"/>
              </a:rPr>
              <a:t>uva recogida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3081528"/>
            <a:ext cx="4206240" cy="1261872"/>
          </a:xfrm>
          <a:prstGeom prst="rect">
            <a:avLst/>
          </a:prstGeom>
          <a:solidFill>
            <a:srgbClr val="F4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3191256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6D2E46"/>
                </a:solidFill>
                <a:latin typeface="Cambria"/>
              </a:rPr>
              <a:t>−12 %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385876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5054"/>
                </a:solidFill>
                <a:latin typeface="Calibri"/>
              </a:rPr>
              <a:t>vs. 2024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4562856"/>
            <a:ext cx="4206240" cy="1261872"/>
          </a:xfrm>
          <a:prstGeom prst="rect">
            <a:avLst/>
          </a:prstGeom>
          <a:solidFill>
            <a:srgbClr val="F4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4672584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6D2E46"/>
                </a:solidFill>
                <a:latin typeface="Cambria"/>
              </a:rPr>
              <a:t>13,4 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534009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5054"/>
                </a:solidFill>
                <a:latin typeface="Calibri"/>
              </a:rPr>
              <a:t>Baumé medio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6D2E46"/>
                </a:solidFill>
                <a:latin typeface="Cambria"/>
              </a:rPr>
              <a:t>Rendimiento por variedad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6D2E46"/>
                </a:solidFill>
                <a:latin typeface="Calibri"/>
              </a:rPr>
              <a:t>•  </a:t>
            </a:r>
            <a:r>
              <a:rPr sz="1600" b="1">
                <a:solidFill>
                  <a:srgbClr val="2B1B22"/>
                </a:solidFill>
                <a:latin typeface="Calibri"/>
              </a:rPr>
              <a:t>Garnacha: 41.000 kg (49 %)</a:t>
            </a:r>
            <a:r>
              <a:rPr sz="1500">
                <a:solidFill>
                  <a:srgbClr val="595054"/>
                </a:solidFill>
                <a:latin typeface="Calibri"/>
              </a:rPr>
              <a:t> — graduación 13,8 º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6D2E46"/>
                </a:solidFill>
                <a:latin typeface="Calibri"/>
              </a:rPr>
              <a:t>•  </a:t>
            </a:r>
            <a:r>
              <a:rPr sz="1600" b="1">
                <a:solidFill>
                  <a:srgbClr val="2B1B22"/>
                </a:solidFill>
                <a:latin typeface="Calibri"/>
              </a:rPr>
              <a:t>Tempranillo: 28.500 kg (34 %)</a:t>
            </a:r>
            <a:r>
              <a:rPr sz="1500">
                <a:solidFill>
                  <a:srgbClr val="595054"/>
                </a:solidFill>
                <a:latin typeface="Calibri"/>
              </a:rPr>
              <a:t> — graduación 13,1 º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6D2E46"/>
                </a:solidFill>
                <a:latin typeface="Calibri"/>
              </a:rPr>
              <a:t>•  </a:t>
            </a:r>
            <a:r>
              <a:rPr sz="1600" b="1">
                <a:solidFill>
                  <a:srgbClr val="2B1B22"/>
                </a:solidFill>
                <a:latin typeface="Calibri"/>
              </a:rPr>
              <a:t>Graciano: 9.500 kg (11 %)</a:t>
            </a:r>
            <a:r>
              <a:rPr sz="1500">
                <a:solidFill>
                  <a:srgbClr val="595054"/>
                </a:solidFill>
                <a:latin typeface="Calibri"/>
              </a:rPr>
              <a:t> — graduación 13,0 º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6D2E46"/>
                </a:solidFill>
                <a:latin typeface="Calibri"/>
              </a:rPr>
              <a:t>•  </a:t>
            </a:r>
            <a:r>
              <a:rPr sz="1600" b="1">
                <a:solidFill>
                  <a:srgbClr val="2B1B22"/>
                </a:solidFill>
                <a:latin typeface="Calibri"/>
              </a:rPr>
              <a:t>Otras variedades: 5.000 kg (6 %)</a:t>
            </a:r>
            <a:r>
              <a:rPr sz="1500">
                <a:solidFill>
                  <a:srgbClr val="595054"/>
                </a:solidFill>
                <a:latin typeface="Calibri"/>
              </a:rPr>
              <a:t> — graduación 12,6 º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309360" y="1645920"/>
          <a:ext cx="521208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6D2E46"/>
                </a:solidFill>
                <a:latin typeface="Cambria"/>
              </a:rPr>
              <a:t>Evolución de la producción (kg totales)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95054"/>
                </a:solidFill>
                <a:latin typeface="Calibri"/>
              </a:rPr>
              <a:t>Cinco campañas de crecimiento continuo hasta el retroceso puntual de 2025.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920240"/>
          <a:ext cx="1069848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6D2E46"/>
                </a:solidFill>
                <a:latin typeface="Cambria"/>
              </a:rPr>
              <a:t>Conclusiones y perspectivas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700" b="1">
                <a:solidFill>
                  <a:srgbClr val="6D2E46"/>
                </a:solidFill>
                <a:latin typeface="Calibri"/>
              </a:rPr>
              <a:t>•  </a:t>
            </a:r>
            <a:r>
              <a:rPr sz="1700" b="1">
                <a:solidFill>
                  <a:srgbClr val="2B1B22"/>
                </a:solidFill>
                <a:latin typeface="Calibri"/>
              </a:rPr>
              <a:t>Menos cantidad pero más grado:</a:t>
            </a:r>
            <a:r>
              <a:rPr sz="1600">
                <a:solidFill>
                  <a:srgbClr val="595054"/>
                </a:solidFill>
                <a:latin typeface="Calibri"/>
              </a:rPr>
              <a:t> se prevé un vino estructurado con mayor potencial de crianza.</a:t>
            </a:r>
          </a:p>
          <a:p>
            <a:pPr>
              <a:spcAft>
                <a:spcPts val="1800"/>
              </a:spcAft>
            </a:pPr>
            <a:r>
              <a:rPr sz="1700" b="1">
                <a:solidFill>
                  <a:srgbClr val="6D2E46"/>
                </a:solidFill>
                <a:latin typeface="Calibri"/>
              </a:rPr>
              <a:t>•  </a:t>
            </a:r>
            <a:r>
              <a:rPr sz="1700" b="1">
                <a:solidFill>
                  <a:srgbClr val="2B1B22"/>
                </a:solidFill>
                <a:latin typeface="Calibri"/>
              </a:rPr>
              <a:t>Cosecha de calidad</a:t>
            </a:r>
            <a:r>
              <a:rPr sz="1600">
                <a:solidFill>
                  <a:srgbClr val="595054"/>
                </a:solidFill>
                <a:latin typeface="Calibri"/>
              </a:rPr>
              <a:t> pese a la reducción de volumen por la sequía.</a:t>
            </a:r>
          </a:p>
          <a:p>
            <a:pPr>
              <a:spcAft>
                <a:spcPts val="1800"/>
              </a:spcAft>
            </a:pPr>
            <a:r>
              <a:rPr sz="1700" b="1">
                <a:solidFill>
                  <a:srgbClr val="6D2E46"/>
                </a:solidFill>
                <a:latin typeface="Calibri"/>
              </a:rPr>
              <a:t>•  </a:t>
            </a:r>
            <a:r>
              <a:rPr sz="1700" b="1">
                <a:solidFill>
                  <a:srgbClr val="2B1B22"/>
                </a:solidFill>
                <a:latin typeface="Calibri"/>
              </a:rPr>
              <a:t>Recomendación:</a:t>
            </a:r>
            <a:r>
              <a:rPr sz="1600">
                <a:solidFill>
                  <a:srgbClr val="595054"/>
                </a:solidFill>
                <a:latin typeface="Calibri"/>
              </a:rPr>
              <a:t> ampliar la parcela de Garnacha en 2026.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Vendimia 2025: menor volumen, máximo potencial.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